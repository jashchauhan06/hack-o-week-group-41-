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6"/>
  </p:notesMasterIdLst>
  <p:handoutMasterIdLst>
    <p:handoutMasterId r:id="rId17"/>
  </p:handoutMasterIdLst>
  <p:sldIdLst>
    <p:sldId id="338" r:id="rId5"/>
    <p:sldId id="327" r:id="rId6"/>
    <p:sldId id="315" r:id="rId7"/>
    <p:sldId id="329" r:id="rId8"/>
    <p:sldId id="302" r:id="rId9"/>
    <p:sldId id="339" r:id="rId10"/>
    <p:sldId id="340" r:id="rId11"/>
    <p:sldId id="341" r:id="rId12"/>
    <p:sldId id="342" r:id="rId13"/>
    <p:sldId id="344"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75" d="100"/>
          <a:sy n="75" d="100"/>
        </p:scale>
        <p:origin x="878" y="21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3/26/2026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3/26/2026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3/26/2026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3/26/2026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3/26/2026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776956" y="3258749"/>
            <a:ext cx="4395036" cy="861497"/>
          </a:xfrm>
        </p:spPr>
        <p:txBody>
          <a:bodyPr/>
          <a:lstStyle/>
          <a:p>
            <a:pPr algn="r"/>
            <a:r>
              <a:rPr lang="en-US" b="0" dirty="0">
                <a:solidFill>
                  <a:schemeClr val="tx1"/>
                </a:solidFill>
              </a:rPr>
              <a:t>[Student Name: Jash Chauhan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859624" y="2050553"/>
            <a:ext cx="5402425" cy="743448"/>
          </a:xfrm>
        </p:spPr>
        <p:txBody>
          <a:bodyPr>
            <a:normAutofit fontScale="90000"/>
          </a:bodyPr>
          <a:lstStyle/>
          <a:p>
            <a:r>
              <a:rPr lang="en-GB" sz="3200" dirty="0"/>
              <a:t>Project Title - </a:t>
            </a:r>
            <a:r>
              <a:rPr lang="en-IN" b="1" dirty="0"/>
              <a:t>Network Port Scanner GUI</a:t>
            </a:r>
            <a:br>
              <a:rPr lang="en-IN" b="1"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1">
            <a:extLst>
              <a:ext uri="{FF2B5EF4-FFF2-40B4-BE49-F238E27FC236}">
                <a16:creationId xmlns:a16="http://schemas.microsoft.com/office/drawing/2014/main" id="{824B8A32-9AB3-457E-82E1-C85D3203CE35}"/>
              </a:ext>
            </a:extLst>
          </p:cNvPr>
          <p:cNvSpPr txBox="1">
            <a:spLocks/>
          </p:cNvSpPr>
          <p:nvPr/>
        </p:nvSpPr>
        <p:spPr>
          <a:xfrm>
            <a:off x="6553200" y="29464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8" name="Text Placeholder 1">
            <a:extLst>
              <a:ext uri="{FF2B5EF4-FFF2-40B4-BE49-F238E27FC236}">
                <a16:creationId xmlns:a16="http://schemas.microsoft.com/office/drawing/2014/main" id="{824B8A32-9AB3-457E-82E1-C85D3203CE35}"/>
              </a:ext>
            </a:extLst>
          </p:cNvPr>
          <p:cNvSpPr txBox="1">
            <a:spLocks/>
          </p:cNvSpPr>
          <p:nvPr/>
        </p:nvSpPr>
        <p:spPr>
          <a:xfrm>
            <a:off x="6705600" y="30988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9" name="Text Placeholder 1">
            <a:extLst>
              <a:ext uri="{FF2B5EF4-FFF2-40B4-BE49-F238E27FC236}">
                <a16:creationId xmlns:a16="http://schemas.microsoft.com/office/drawing/2014/main" id="{7201737A-B873-4D1D-8A41-5ABF5184BC8F}"/>
              </a:ext>
            </a:extLst>
          </p:cNvPr>
          <p:cNvSpPr txBox="1">
            <a:spLocks/>
          </p:cNvSpPr>
          <p:nvPr/>
        </p:nvSpPr>
        <p:spPr>
          <a:xfrm>
            <a:off x="4493308" y="4084144"/>
            <a:ext cx="3400089"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b="0" dirty="0">
                <a:solidFill>
                  <a:schemeClr val="tx1"/>
                </a:solidFill>
              </a:rPr>
              <a:t>[AICTE ID : ]</a:t>
            </a:r>
            <a:endParaRPr lang="en-IN" b="0" dirty="0">
              <a:solidFill>
                <a:schemeClr val="tx1"/>
              </a:solidFill>
            </a:endParaRPr>
          </a:p>
        </p:txBody>
      </p:sp>
      <p:sp>
        <p:nvSpPr>
          <p:cNvPr id="5" name="TextBox 4">
            <a:extLst>
              <a:ext uri="{FF2B5EF4-FFF2-40B4-BE49-F238E27FC236}">
                <a16:creationId xmlns:a16="http://schemas.microsoft.com/office/drawing/2014/main" id="{4F051E57-F71A-5D58-5839-36D0ABEF9D8A}"/>
              </a:ext>
            </a:extLst>
          </p:cNvPr>
          <p:cNvSpPr txBox="1"/>
          <p:nvPr/>
        </p:nvSpPr>
        <p:spPr>
          <a:xfrm>
            <a:off x="4776956" y="4727956"/>
            <a:ext cx="5372466" cy="646331"/>
          </a:xfrm>
          <a:prstGeom prst="rect">
            <a:avLst/>
          </a:prstGeom>
          <a:noFill/>
        </p:spPr>
        <p:txBody>
          <a:bodyPr wrap="square">
            <a:spAutoFit/>
          </a:bodyPr>
          <a:lstStyle/>
          <a:p>
            <a:pPr algn="r"/>
            <a:r>
              <a:rPr lang="en-US" b="0" dirty="0">
                <a:solidFill>
                  <a:schemeClr val="tx1"/>
                </a:solidFill>
              </a:rPr>
              <a:t>[</a:t>
            </a:r>
            <a:r>
              <a:rPr lang="en-US" dirty="0"/>
              <a:t>College Name</a:t>
            </a:r>
            <a:r>
              <a:rPr lang="en-US" b="0" dirty="0">
                <a:solidFill>
                  <a:schemeClr val="tx1"/>
                </a:solidFill>
              </a:rPr>
              <a:t>: Symbiosis Institute Of Technology, Nagpur]</a:t>
            </a:r>
            <a:endParaRPr lang="en-IN" b="0" dirty="0">
              <a:solidFill>
                <a:schemeClr val="tx1"/>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nodePh="1">
                                  <p:stCondLst>
                                    <p:cond delay="0"/>
                                  </p:stCondLst>
                                  <p:endCondLst>
                                    <p:cond evt="begin" delay="0">
                                      <p:tn val="42"/>
                                    </p:cond>
                                  </p:end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ppt_w</p:attrName>
                                        </p:attrNameLst>
                                      </p:cBhvr>
                                      <p:tavLst>
                                        <p:tav tm="0">
                                          <p:val>
                                            <p:fltVal val="0"/>
                                          </p:val>
                                        </p:tav>
                                        <p:tav tm="100000">
                                          <p:val>
                                            <p:strVal val="#ppt_w"/>
                                          </p:val>
                                        </p:tav>
                                      </p:tavLst>
                                    </p:anim>
                                    <p:anim calcmode="lin" valueType="num">
                                      <p:cBhvr>
                                        <p:cTn id="45" dur="500" fill="hold"/>
                                        <p:tgtEl>
                                          <p:spTgt spid="8"/>
                                        </p:tgtEl>
                                        <p:attrNameLst>
                                          <p:attrName>ppt_h</p:attrName>
                                        </p:attrNameLst>
                                      </p:cBhvr>
                                      <p:tavLst>
                                        <p:tav tm="0">
                                          <p:val>
                                            <p:fltVal val="0"/>
                                          </p:val>
                                        </p:tav>
                                        <p:tav tm="100000">
                                          <p:val>
                                            <p:strVal val="#ppt_h"/>
                                          </p:val>
                                        </p:tav>
                                      </p:tavLst>
                                    </p:anim>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9">
                                            <p:txEl>
                                              <p:pRg st="0" end="0"/>
                                            </p:txEl>
                                          </p:spTgt>
                                        </p:tgtEl>
                                        <p:attrNameLst>
                                          <p:attrName>style.visibility</p:attrName>
                                        </p:attrNameLst>
                                      </p:cBhvr>
                                      <p:to>
                                        <p:strVal val="visible"/>
                                      </p:to>
                                    </p:set>
                                    <p:animEffect transition="in" filter="randombar(horizontal)">
                                      <p:cBhvr>
                                        <p:cTn id="51"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P spid="8" grpId="0"/>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91477" y="1737360"/>
            <a:ext cx="6303963" cy="4102283"/>
          </a:xfrm>
        </p:spPr>
        <p:txBody>
          <a:bodyPr>
            <a:normAutofit fontScale="77500" lnSpcReduction="20000"/>
          </a:bodyPr>
          <a:lstStyle/>
          <a:p>
            <a:pPr algn="just"/>
            <a:r>
              <a:rPr lang="en-US" sz="2800" dirty="0"/>
              <a:t>Existing network monitoring tools are often complex, command-line based, or require advanced technical knowledge, making them difficult for beginners to use. There is a need for a simple, user-friendly application that can efficiently scan and identify open ports on a target system.</a:t>
            </a:r>
          </a:p>
          <a:p>
            <a:pPr algn="just"/>
            <a:r>
              <a:rPr lang="en-US" sz="2800" dirty="0"/>
              <a:t>The Network Port Scanner GUI aims to provide an easy-to-use graphical interface that allows users to perform port scanning, monitor open ports, and understand network services without requiring deep technical expertise.</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388653"/>
            <a:ext cx="6276109" cy="830997"/>
          </a:xfrm>
        </p:spPr>
        <p:txBody>
          <a:bodyPr>
            <a:normAutofit fontScale="90000"/>
          </a:bodyPr>
          <a:lstStyle/>
          <a:p>
            <a:pPr>
              <a:spcBef>
                <a:spcPts val="0"/>
              </a:spcBef>
              <a:spcAft>
                <a:spcPts val="600"/>
              </a:spcAft>
            </a:pPr>
            <a:r>
              <a:rPr lang="en-GB" dirty="0"/>
              <a:t>Project Description</a:t>
            </a:r>
            <a:br>
              <a:rPr lang="en-GB" dirty="0"/>
            </a:br>
            <a:endParaRPr lang="en-IN" sz="1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A1DB9406-DBD6-8488-6E2A-D90AFDC96633}"/>
              </a:ext>
            </a:extLst>
          </p:cNvPr>
          <p:cNvSpPr txBox="1"/>
          <p:nvPr/>
        </p:nvSpPr>
        <p:spPr>
          <a:xfrm>
            <a:off x="467359" y="1219650"/>
            <a:ext cx="6276109" cy="5078313"/>
          </a:xfrm>
          <a:prstGeom prst="rect">
            <a:avLst/>
          </a:prstGeom>
          <a:noFill/>
        </p:spPr>
        <p:txBody>
          <a:bodyPr wrap="square" rtlCol="0">
            <a:spAutoFit/>
          </a:bodyPr>
          <a:lstStyle/>
          <a:p>
            <a:pPr algn="just"/>
            <a:r>
              <a:rPr lang="en-US" dirty="0"/>
              <a:t>The Network Port Scanner is a desktop-based application developed using Python and </a:t>
            </a:r>
            <a:r>
              <a:rPr lang="en-US" dirty="0" err="1"/>
              <a:t>Tkinter</a:t>
            </a:r>
            <a:r>
              <a:rPr lang="en-US" dirty="0"/>
              <a:t> that allows users to scan a target system for open ports within a specified range. The tool works by sending connection requests to different ports and identifying which ports are active and accessible.</a:t>
            </a:r>
          </a:p>
          <a:p>
            <a:pPr algn="just"/>
            <a:r>
              <a:rPr lang="en-US" dirty="0"/>
              <a:t>The application uses multithreading to perform fast and efficient scanning, enabling multiple ports to be checked simultaneously. It also includes a user-friendly graphical interface where users can input the target IP address or hostname, define the port range, and view real-time scanning progress.</a:t>
            </a:r>
          </a:p>
          <a:p>
            <a:pPr algn="just"/>
            <a:r>
              <a:rPr lang="en-US" dirty="0"/>
              <a:t>The system maps commonly used port numbers to their respective services (such as HTTP, FTP, SSH), helping users understand the purpose of each open port. Additionally, the application provides features like stopping an ongoing scan, displaying results dynamically, and saving the scan results to a file for future reference.</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802640" y="1927701"/>
            <a:ext cx="7620000" cy="4000659"/>
          </a:xfrm>
        </p:spPr>
        <p:txBody>
          <a:bodyPr>
            <a:normAutofit fontScale="92500" lnSpcReduction="20000"/>
          </a:bodyPr>
          <a:lstStyle/>
          <a:p>
            <a:pPr algn="just">
              <a:lnSpc>
                <a:spcPct val="150000"/>
              </a:lnSpc>
            </a:pPr>
            <a:r>
              <a:rPr lang="en-IN" sz="3600" dirty="0"/>
              <a:t>Cybersecurity students</a:t>
            </a:r>
          </a:p>
          <a:p>
            <a:pPr algn="just">
              <a:lnSpc>
                <a:spcPct val="150000"/>
              </a:lnSpc>
            </a:pPr>
            <a:r>
              <a:rPr lang="en-IN" sz="3600" dirty="0"/>
              <a:t>Ethical hackers</a:t>
            </a:r>
          </a:p>
          <a:p>
            <a:pPr algn="just">
              <a:lnSpc>
                <a:spcPct val="150000"/>
              </a:lnSpc>
            </a:pPr>
            <a:r>
              <a:rPr lang="en-IN" sz="3600" dirty="0"/>
              <a:t>Network administrators</a:t>
            </a:r>
          </a:p>
          <a:p>
            <a:pPr algn="just">
              <a:lnSpc>
                <a:spcPct val="150000"/>
              </a:lnSpc>
            </a:pPr>
            <a:r>
              <a:rPr lang="en-IN" sz="3600" dirty="0"/>
              <a:t>Developers</a:t>
            </a:r>
          </a:p>
          <a:p>
            <a:pPr algn="just">
              <a:lnSpc>
                <a:spcPct val="150000"/>
              </a:lnSpc>
            </a:pPr>
            <a:r>
              <a:rPr lang="en-IN" sz="3600" dirty="0"/>
              <a:t>IT Support Teams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b="1" dirty="0"/>
              <a:t>Language:</a:t>
            </a:r>
            <a:r>
              <a:rPr lang="en-IN" dirty="0"/>
              <a:t> Python 3</a:t>
            </a:r>
          </a:p>
          <a:p>
            <a:pPr lvl="1">
              <a:lnSpc>
                <a:spcPct val="150000"/>
              </a:lnSpc>
            </a:pPr>
            <a:r>
              <a:rPr lang="en-IN" b="1" dirty="0"/>
              <a:t>GUI Framework:</a:t>
            </a:r>
            <a:r>
              <a:rPr lang="en-IN" dirty="0"/>
              <a:t> </a:t>
            </a:r>
            <a:r>
              <a:rPr lang="en-IN" dirty="0" err="1"/>
              <a:t>Tkinter</a:t>
            </a:r>
            <a:r>
              <a:rPr lang="en-IN" dirty="0"/>
              <a:t> / </a:t>
            </a:r>
            <a:r>
              <a:rPr lang="en-IN" dirty="0" err="1"/>
              <a:t>Ttk</a:t>
            </a:r>
            <a:endParaRPr lang="en-IN" dirty="0"/>
          </a:p>
          <a:p>
            <a:pPr lvl="1">
              <a:lnSpc>
                <a:spcPct val="150000"/>
              </a:lnSpc>
            </a:pPr>
            <a:r>
              <a:rPr lang="en-IN" b="1" dirty="0"/>
              <a:t>Networking Protocol:</a:t>
            </a:r>
            <a:r>
              <a:rPr lang="en-IN" dirty="0"/>
              <a:t> TCP (IPv4)</a:t>
            </a:r>
          </a:p>
          <a:p>
            <a:pPr lvl="1">
              <a:lnSpc>
                <a:spcPct val="150000"/>
              </a:lnSpc>
            </a:pPr>
            <a:r>
              <a:rPr lang="en-IN" b="1" dirty="0"/>
              <a:t>Library:</a:t>
            </a:r>
            <a:r>
              <a:rPr lang="en-IN" dirty="0"/>
              <a:t> Berkeley Sockets (socket)</a:t>
            </a:r>
          </a:p>
          <a:p>
            <a:pPr lvl="3">
              <a:lnSpc>
                <a:spcPct val="150000"/>
              </a:lnSpc>
            </a:pPr>
            <a:r>
              <a:rPr lang="en-US" b="1" dirty="0"/>
              <a:t>Scanning Method:</a:t>
            </a:r>
            <a:r>
              <a:rPr lang="en-US" dirty="0"/>
              <a:t> TCP Connect Scan (</a:t>
            </a:r>
            <a:r>
              <a:rPr lang="en-US" dirty="0" err="1"/>
              <a:t>connect_ex</a:t>
            </a:r>
            <a:r>
              <a:rPr lang="en-US" dirty="0"/>
              <a:t>)</a:t>
            </a:r>
          </a:p>
          <a:p>
            <a:pPr lvl="3">
              <a:lnSpc>
                <a:spcPct val="150000"/>
              </a:lnSpc>
            </a:pPr>
            <a:r>
              <a:rPr lang="en-IN" b="1" dirty="0"/>
              <a:t>Concurrency:</a:t>
            </a:r>
            <a:r>
              <a:rPr lang="en-IN" dirty="0"/>
              <a:t> Multi-threading (threading)</a:t>
            </a:r>
          </a:p>
          <a:p>
            <a:pPr lvl="3">
              <a:lnSpc>
                <a:spcPct val="150000"/>
              </a:lnSpc>
            </a:pPr>
            <a:r>
              <a:rPr lang="en-IN" b="1" dirty="0"/>
              <a:t>Synchronization:</a:t>
            </a:r>
            <a:r>
              <a:rPr lang="en-IN" dirty="0"/>
              <a:t> Semaphores </a:t>
            </a:r>
            <a:r>
              <a:rPr lang="en-IN" dirty="0">
                <a:latin typeface="Arial Narrow" panose="020B0606020202030204" pitchFamily="34" charset="0"/>
              </a:rPr>
              <a:t>&amp;</a:t>
            </a:r>
            <a:r>
              <a:rPr lang="en-IN" dirty="0"/>
              <a:t> FIFO Queues</a:t>
            </a:r>
          </a:p>
          <a:p>
            <a:pPr lvl="3">
              <a:lnSpc>
                <a:spcPct val="150000"/>
              </a:lnSpc>
            </a:pPr>
            <a:r>
              <a:rPr lang="en-US" b="1" dirty="0"/>
              <a:t>System Interface:</a:t>
            </a:r>
            <a:r>
              <a:rPr lang="en-US" dirty="0"/>
              <a:t> </a:t>
            </a:r>
            <a:r>
              <a:rPr lang="en-US" dirty="0" err="1"/>
              <a:t>Ctypes</a:t>
            </a:r>
            <a:r>
              <a:rPr lang="en-US" dirty="0"/>
              <a:t> (Windows Kernel32 API)</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E4F648B-E834-87D9-063D-1E8D5C8F1A28}"/>
              </a:ext>
            </a:extLst>
          </p:cNvPr>
          <p:cNvPicPr>
            <a:picLocks noChangeAspect="1"/>
          </p:cNvPicPr>
          <p:nvPr/>
        </p:nvPicPr>
        <p:blipFill>
          <a:blip r:embed="rId4"/>
          <a:stretch>
            <a:fillRect/>
          </a:stretch>
        </p:blipFill>
        <p:spPr>
          <a:xfrm>
            <a:off x="1026160" y="2097771"/>
            <a:ext cx="6990080" cy="393192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11" name="Picture 10">
            <a:extLst>
              <a:ext uri="{FF2B5EF4-FFF2-40B4-BE49-F238E27FC236}">
                <a16:creationId xmlns:a16="http://schemas.microsoft.com/office/drawing/2014/main" id="{0F9F4CA1-5E9D-3F4D-3DDA-7AC7DC44BF9F}"/>
              </a:ext>
            </a:extLst>
          </p:cNvPr>
          <p:cNvPicPr>
            <a:picLocks noChangeAspect="1"/>
          </p:cNvPicPr>
          <p:nvPr/>
        </p:nvPicPr>
        <p:blipFill>
          <a:blip r:embed="rId4"/>
          <a:stretch>
            <a:fillRect/>
          </a:stretch>
        </p:blipFill>
        <p:spPr>
          <a:xfrm>
            <a:off x="1307849" y="2147902"/>
            <a:ext cx="6381406" cy="3589541"/>
          </a:xfrm>
          <a:prstGeom prst="rect">
            <a:avLst/>
          </a:prstGeom>
        </p:spPr>
      </p:pic>
    </p:spTree>
    <p:extLst>
      <p:ext uri="{BB962C8B-B14F-4D97-AF65-F5344CB8AC3E}">
        <p14:creationId xmlns:p14="http://schemas.microsoft.com/office/powerpoint/2010/main" val="28911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Protection from browser attacks</a:t>
            </a:r>
            <a:r>
              <a:rPr lang="en-GB" b="1" dirty="0">
                <a:solidFill>
                  <a:schemeClr val="tx1"/>
                </a:solidFill>
              </a:rPr>
              <a:t> </a:t>
            </a:r>
            <a:endParaRPr lang="en-IN" b="1" dirty="0">
              <a:solidFill>
                <a:schemeClr val="tx1"/>
              </a:solidFill>
            </a:endParaRPr>
          </a:p>
        </p:txBody>
      </p:sp>
      <p:pic>
        <p:nvPicPr>
          <p:cNvPr id="3" name="Picture 2">
            <a:extLst>
              <a:ext uri="{FF2B5EF4-FFF2-40B4-BE49-F238E27FC236}">
                <a16:creationId xmlns:a16="http://schemas.microsoft.com/office/drawing/2014/main" id="{2732C06C-4174-4485-2940-48AC6FB22884}"/>
              </a:ext>
            </a:extLst>
          </p:cNvPr>
          <p:cNvPicPr>
            <a:picLocks noChangeAspect="1"/>
          </p:cNvPicPr>
          <p:nvPr/>
        </p:nvPicPr>
        <p:blipFill>
          <a:blip r:embed="rId2"/>
          <a:stretch>
            <a:fillRect/>
          </a:stretch>
        </p:blipFill>
        <p:spPr>
          <a:xfrm>
            <a:off x="1451051" y="1432495"/>
            <a:ext cx="6031159" cy="4267200"/>
          </a:xfrm>
          <a:prstGeom prst="rect">
            <a:avLst/>
          </a:prstGeom>
        </p:spPr>
      </p:pic>
    </p:spTree>
    <p:extLst>
      <p:ext uri="{BB962C8B-B14F-4D97-AF65-F5344CB8AC3E}">
        <p14:creationId xmlns:p14="http://schemas.microsoft.com/office/powerpoint/2010/main" val="185979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Introduction to System Security</a:t>
            </a:r>
          </a:p>
        </p:txBody>
      </p:sp>
      <p:pic>
        <p:nvPicPr>
          <p:cNvPr id="3" name="Picture 2">
            <a:extLst>
              <a:ext uri="{FF2B5EF4-FFF2-40B4-BE49-F238E27FC236}">
                <a16:creationId xmlns:a16="http://schemas.microsoft.com/office/drawing/2014/main" id="{AEB1F826-F4FD-B166-476A-5DC823E17DA9}"/>
              </a:ext>
            </a:extLst>
          </p:cNvPr>
          <p:cNvPicPr>
            <a:picLocks noChangeAspect="1"/>
          </p:cNvPicPr>
          <p:nvPr/>
        </p:nvPicPr>
        <p:blipFill>
          <a:blip r:embed="rId2"/>
          <a:stretch>
            <a:fillRect/>
          </a:stretch>
        </p:blipFill>
        <p:spPr>
          <a:xfrm>
            <a:off x="1652090" y="1432494"/>
            <a:ext cx="5945092" cy="4206305"/>
          </a:xfrm>
          <a:prstGeom prst="rect">
            <a:avLst/>
          </a:prstGeom>
        </p:spPr>
      </p:pic>
    </p:spTree>
    <p:extLst>
      <p:ext uri="{BB962C8B-B14F-4D97-AF65-F5344CB8AC3E}">
        <p14:creationId xmlns:p14="http://schemas.microsoft.com/office/powerpoint/2010/main" val="275451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10</a:t>
            </a:fld>
            <a:endParaRPr lang="en-US" dirty="0"/>
          </a:p>
        </p:txBody>
      </p:sp>
      <p:sp>
        <p:nvSpPr>
          <p:cNvPr id="3" name="Title 3">
            <a:extLst>
              <a:ext uri="{FF2B5EF4-FFF2-40B4-BE49-F238E27FC236}">
                <a16:creationId xmlns:a16="http://schemas.microsoft.com/office/drawing/2014/main" id="{AFE3A2AF-177E-45E6-A191-0F8523DB7FFA}"/>
              </a:ext>
            </a:extLst>
          </p:cNvPr>
          <p:cNvSpPr txBox="1">
            <a:spLocks/>
          </p:cNvSpPr>
          <p:nvPr/>
        </p:nvSpPr>
        <p:spPr>
          <a:xfrm>
            <a:off x="371155" y="583026"/>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GitHub link</a:t>
            </a:r>
          </a:p>
        </p:txBody>
      </p:sp>
      <p:sp>
        <p:nvSpPr>
          <p:cNvPr id="5" name="TextBox 4">
            <a:extLst>
              <a:ext uri="{FF2B5EF4-FFF2-40B4-BE49-F238E27FC236}">
                <a16:creationId xmlns:a16="http://schemas.microsoft.com/office/drawing/2014/main" id="{37987A8E-D999-DB57-2C96-D7FFD133EA0F}"/>
              </a:ext>
            </a:extLst>
          </p:cNvPr>
          <p:cNvSpPr txBox="1"/>
          <p:nvPr/>
        </p:nvSpPr>
        <p:spPr>
          <a:xfrm>
            <a:off x="1127759" y="2951946"/>
            <a:ext cx="8671243" cy="954107"/>
          </a:xfrm>
          <a:prstGeom prst="rect">
            <a:avLst/>
          </a:prstGeom>
          <a:noFill/>
        </p:spPr>
        <p:txBody>
          <a:bodyPr wrap="square" rtlCol="0">
            <a:spAutoFit/>
          </a:bodyPr>
          <a:lstStyle/>
          <a:p>
            <a:r>
              <a:rPr lang="en-IN" sz="2800" dirty="0"/>
              <a:t>Link: </a:t>
            </a:r>
            <a:r>
              <a:rPr lang="en-IN" sz="2800" b="1" dirty="0">
                <a:solidFill>
                  <a:srgbClr val="FF0000"/>
                </a:solidFill>
              </a:rPr>
              <a:t>https://github.com/jashchauhan06/Network-Port-Scanner-GUI</a:t>
            </a:r>
          </a:p>
        </p:txBody>
      </p:sp>
    </p:spTree>
    <p:extLst>
      <p:ext uri="{BB962C8B-B14F-4D97-AF65-F5344CB8AC3E}">
        <p14:creationId xmlns:p14="http://schemas.microsoft.com/office/powerpoint/2010/main" val="35632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purl.org/dc/elements/1.1/"/>
    <ds:schemaRef ds:uri="16c05727-aa75-4e4a-9b5f-8a80a1165891"/>
    <ds:schemaRef ds:uri="http://schemas.microsoft.com/office/2006/metadata/properties"/>
    <ds:schemaRef ds:uri="http://purl.org/dc/terms/"/>
    <ds:schemaRef ds:uri="71af3243-3dd4-4a8d-8c0d-dd76da1f02a5"/>
    <ds:schemaRef ds:uri="http://purl.org/dc/dcmitype/"/>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Facet</Template>
  <TotalTime>589</TotalTime>
  <Words>401</Words>
  <Application>Microsoft Office PowerPoint</Application>
  <PresentationFormat>Widescreen</PresentationFormat>
  <Paragraphs>41</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Narrow</vt:lpstr>
      <vt:lpstr>Calibri</vt:lpstr>
      <vt:lpstr>Trebuchet MS</vt:lpstr>
      <vt:lpstr>Wingdings</vt:lpstr>
      <vt:lpstr>Wingdings 3</vt:lpstr>
      <vt:lpstr>Facet</vt:lpstr>
      <vt:lpstr>Project Title - Network Port Scanner GUI </vt:lpstr>
      <vt:lpstr>PROBLEM  STATEMENT</vt:lpstr>
      <vt:lpstr>Project Description </vt:lpstr>
      <vt:lpstr>WHO ARE THE END USERS?</vt:lpstr>
      <vt:lpstr>Technology Used</vt:lpstr>
      <vt:lpstr>RESULTS </vt:lpstr>
      <vt:lpstr>RESULTS </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Jash Chauhan</cp:lastModifiedBy>
  <cp:revision>79</cp:revision>
  <dcterms:created xsi:type="dcterms:W3CDTF">2021-07-11T13:13:15Z</dcterms:created>
  <dcterms:modified xsi:type="dcterms:W3CDTF">2026-03-26T15:07:12Z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